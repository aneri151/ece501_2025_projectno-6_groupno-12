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Helvetica Neue"/>
      <p:regular r:id="rId16"/>
      <p:bold r:id="rId17"/>
      <p:italic r:id="rId18"/>
      <p:boldItalic r:id="rId19"/>
    </p:embeddedFont>
    <p:embeddedFont>
      <p:font typeface="Helvetica Neue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EBF2D2-DA72-496D-B6A7-A490208AA130}">
  <a:tblStyle styleId="{6EEBF2D2-DA72-496D-B6A7-A490208AA1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Light-regular.fntdata"/><Relationship Id="rId11" Type="http://schemas.openxmlformats.org/officeDocument/2006/relationships/slide" Target="slides/slide6.xml"/><Relationship Id="rId22" Type="http://schemas.openxmlformats.org/officeDocument/2006/relationships/font" Target="fonts/HelveticaNeueLight-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Ligh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HelveticaNeueLigh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5f1e2d20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85f1e2d20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5f1e2d20b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85f1e2d20b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5f1e2d20b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85f1e2d20b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5f1e2d20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85f1e2d20b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5f1e2d20b_0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85f1e2d20b_0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5f1e2d20b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85f1e2d20b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85f1e2d20b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85f1e2d20b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rgbClr val="801B19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b="0" i="0" sz="200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7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8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4" name="Google Shape;64;p9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0" name="Google Shape;70;p10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1" name="Google Shape;71;p10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76" name="Google Shape;76;p1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7" name="Google Shape;77;p11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82" name="Google Shape;82;p12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3" name="Google Shape;83;p12"/>
          <p:cNvPicPr preferRelativeResize="0"/>
          <p:nvPr/>
        </p:nvPicPr>
        <p:blipFill rotWithShape="1">
          <a:blip r:embed="rId2">
            <a:alphaModFix/>
          </a:blip>
          <a:srcRect b="38397" l="29654" r="29480" t="38312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b="1" i="0" sz="4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b="0" i="0" sz="2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b="0" i="0" sz="24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b="0" i="0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b="0" i="0" sz="18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2" name="Google Shape;12;p1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"/>
            <p:cNvPicPr preferRelativeResize="0"/>
            <p:nvPr/>
          </p:nvPicPr>
          <p:blipFill rotWithShape="1">
            <a:blip r:embed="rId1">
              <a:alphaModFix/>
            </a:blip>
            <a:srcRect b="0" l="0" r="0" t="0"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"/>
            <p:cNvPicPr preferRelativeResize="0"/>
            <p:nvPr/>
          </p:nvPicPr>
          <p:blipFill rotWithShape="1">
            <a:blip r:embed="rId1">
              <a:alphaModFix/>
            </a:blip>
            <a:srcRect b="15585" l="0" r="71580" t="0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rtl="0" algn="r">
              <a:spcBef>
                <a:spcPts val="0"/>
              </a:spcBef>
              <a:buNone/>
              <a:defRPr b="1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|</a:t>
            </a:r>
            <a:r>
              <a:rPr b="0" lang="en-US"/>
              <a:t>  </a:t>
            </a:r>
            <a:fld id="{00000000-1234-1234-1234-123412341234}" type="slidenum">
              <a:rPr b="0" lang="en-US"/>
              <a:t>‹#›</a:t>
            </a:fld>
            <a:endParaRPr b="0"/>
          </a:p>
        </p:txBody>
      </p:sp>
      <p:sp>
        <p:nvSpPr>
          <p:cNvPr id="17" name="Google Shape;17;p1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ieeexplore.ieee.org/stamp/stamp.jsp?tp=&amp;arnumber=935036" TargetMode="External"/><Relationship Id="rId4" Type="http://schemas.openxmlformats.org/officeDocument/2006/relationships/hyperlink" Target="https://conservancy.umn.edu/server/api/core/bitstreams/c38eaf5d-5261-46b5-9392-3d380bf6f5f1/conten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1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123800" y="3070651"/>
            <a:ext cx="9944400" cy="7167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/>
              <a:t>Image Inpainting For Object Removal</a:t>
            </a:r>
            <a:br>
              <a:rPr lang="en-US" sz="4000"/>
            </a:br>
            <a:endParaRPr sz="4000"/>
          </a:p>
        </p:txBody>
      </p:sp>
      <p:sp>
        <p:nvSpPr>
          <p:cNvPr id="89" name="Google Shape;89;p13"/>
          <p:cNvSpPr txBox="1"/>
          <p:nvPr/>
        </p:nvSpPr>
        <p:spPr>
          <a:xfrm>
            <a:off x="6556450" y="0"/>
            <a:ext cx="3942000" cy="11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aphicFrame>
        <p:nvGraphicFramePr>
          <p:cNvPr id="90" name="Google Shape;90;p13"/>
          <p:cNvGraphicFramePr/>
          <p:nvPr/>
        </p:nvGraphicFramePr>
        <p:xfrm>
          <a:off x="2469825" y="448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{6EEBF2D2-DA72-496D-B6A7-A490208AA130}</a:tableStyleId>
              </a:tblPr>
              <a:tblGrid>
                <a:gridCol w="3626175"/>
                <a:gridCol w="3626175"/>
              </a:tblGrid>
              <a:tr h="51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Sakina Jambughodawala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AU2340114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Prina Patel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AU2340040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Aneri Maniar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AU2340080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3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Nidhee Adesara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900">
                          <a:solidFill>
                            <a:schemeClr val="lt1"/>
                          </a:solidFill>
                          <a:latin typeface="Helvetica Neue Light"/>
                          <a:ea typeface="Helvetica Neue Light"/>
                          <a:cs typeface="Helvetica Neue Light"/>
                          <a:sym typeface="Helvetica Neue Light"/>
                        </a:rPr>
                        <a:t>AU2340196</a:t>
                      </a:r>
                      <a:endParaRPr sz="1900"/>
                    </a:p>
                  </a:txBody>
                  <a:tcPr marT="91425" marB="91425" marR="91425" marL="91425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5044800" y="3787350"/>
            <a:ext cx="2102400" cy="615600"/>
          </a:xfrm>
          <a:prstGeom prst="rect">
            <a:avLst/>
          </a:prstGeom>
          <a:noFill/>
          <a:ln>
            <a:noFill/>
          </a:ln>
        </p:spPr>
        <p:txBody>
          <a:bodyPr anchorCtr="1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GROUP-12</a:t>
            </a:r>
            <a:endParaRPr sz="2800">
              <a:solidFill>
                <a:schemeClr val="lt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/>
          <p:nvPr>
            <p:ph type="title"/>
          </p:nvPr>
        </p:nvSpPr>
        <p:spPr>
          <a:xfrm>
            <a:off x="831850" y="323550"/>
            <a:ext cx="5935200" cy="96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US" sz="4000">
                <a:solidFill>
                  <a:schemeClr val="dk1"/>
                </a:solidFill>
              </a:rPr>
              <a:t>INTRODUCTION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831850" y="1513338"/>
            <a:ext cx="10515600" cy="45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  <a:p>
            <a:pPr indent="-348456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7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sz="7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7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aim of image inpainting is to reconstruct the damaged or unwanted regions so the output looks visually natural and consistent with the surroundings.</a:t>
            </a:r>
            <a:endParaRPr sz="7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456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7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methods which exist:</a:t>
            </a:r>
            <a:endParaRPr sz="7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456" lvl="0" marL="9715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n-US" sz="7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Exemplar based: Patch based </a:t>
            </a:r>
            <a:endParaRPr sz="7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456" lvl="0" marL="97155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AutoNum type="arabicPeriod"/>
            </a:pPr>
            <a:r>
              <a:rPr lang="en-US" sz="7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Diffusion based: PDE(Partial differential equations).</a:t>
            </a:r>
            <a:endParaRPr sz="7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8456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-US" sz="7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 we opted:</a:t>
            </a:r>
            <a:endParaRPr sz="7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7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focus of our work is on structure-preserving restoration using mathematical diffusion models.</a:t>
            </a:r>
            <a:endParaRPr sz="75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4607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AutoNum type="arabicPeriod"/>
            </a:pPr>
            <a:r>
              <a:rPr lang="en-US" sz="185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Filling in by joint Interpolation of vector Field and Gray Levels: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The reference paper explains diffusion-based image inpainting using PDEs, and we are using their methodology of isotropic and anisotropic diffusion that jointly interpolates image gray-levels and edge directions to smoothly fill missing regions while preserving structures.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50"/>
              <a:buFont typeface="Times New Roman"/>
              <a:buAutoNum type="arabicPeriod"/>
            </a:pPr>
            <a:r>
              <a:rPr lang="en-US" sz="185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Morphologically Invariant PDE Inpainting: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The paper reviews several PDE-based image inpainting models, including transportation, total variation, curvature-driven diffusion, and elastica models, unifying them under common principles. It introduces a new class of third-order PDEs that maintain morphological and rotational invariance. The authors note that these models are best suited for non-texture image inpainting, while texture restoration requires separate synthesis approaches.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10" type="dt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91325" y="260350"/>
            <a:ext cx="2352000" cy="87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Dataset </a:t>
            </a:r>
            <a:endParaRPr/>
          </a:p>
        </p:txBody>
      </p:sp>
      <p:sp>
        <p:nvSpPr>
          <p:cNvPr id="113" name="Google Shape;113;p16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16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4700" y="1132400"/>
            <a:ext cx="2871775" cy="2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3881925"/>
            <a:ext cx="3055350" cy="222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1186450"/>
            <a:ext cx="3055350" cy="257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7700" y="3881925"/>
            <a:ext cx="2938775" cy="22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582426" y="1768950"/>
            <a:ext cx="5875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Diffusion based method: 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AutoNum type="arabicPeriod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Input: Original Image and mask 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AutoNum type="arabicPeriod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Convert to grayscale; normalize pixel intensities.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AutoNum type="arabicPeriod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The masked area is given initial values, by interpolating or blurring nearby pixels.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AutoNum type="arabicPeriod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Identify boundary pixels and calculate isophotes (gradient directions) from known regions.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AutoNum type="arabicPeriod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Apply PDE-based updates (e.g., Laplacian or anisotropic diffusion) to spread pixel values smoothly along isophotes into the masked region.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/>
              <a:buAutoNum type="arabicPeriod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Iteratively update pixel values until changes become minimal or a maximum iteration is reached.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Times New Roman"/>
              <a:buAutoNum type="arabicPeriod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Output: </a:t>
            </a: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Unpainted</a:t>
            </a: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 image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" name="Google Shape;126;p17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27" name="Google Shape;127;p17" title="diffusion_inpainting_flowch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7752" y="260350"/>
            <a:ext cx="4795248" cy="6009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33" name="Google Shape;133;p18"/>
          <p:cNvSpPr txBox="1"/>
          <p:nvPr>
            <p:ph idx="1" type="body"/>
          </p:nvPr>
        </p:nvSpPr>
        <p:spPr>
          <a:xfrm>
            <a:off x="582426" y="1768950"/>
            <a:ext cx="5875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/>
          </a:p>
        </p:txBody>
      </p:sp>
      <p:sp>
        <p:nvSpPr>
          <p:cNvPr id="134" name="Google Shape;134;p18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8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36" name="Google Shape;136;p18" title="WhatsApp Video 2025-10-12 at 7.22.31 PM.gif"/>
          <p:cNvPicPr preferRelativeResize="0"/>
          <p:nvPr/>
        </p:nvPicPr>
        <p:blipFill rotWithShape="1">
          <a:blip r:embed="rId3">
            <a:alphaModFix/>
          </a:blip>
          <a:srcRect b="7280" l="9240" r="10334" t="7365"/>
          <a:stretch/>
        </p:blipFill>
        <p:spPr>
          <a:xfrm>
            <a:off x="4934600" y="1539150"/>
            <a:ext cx="2565575" cy="481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>
            <p:ph type="title"/>
          </p:nvPr>
        </p:nvSpPr>
        <p:spPr>
          <a:xfrm>
            <a:off x="287078" y="11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42" name="Google Shape;142;p19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19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  <p:pic>
        <p:nvPicPr>
          <p:cNvPr id="144" name="Google Shape;14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0200" y="1224125"/>
            <a:ext cx="2877900" cy="25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825" y="3989200"/>
            <a:ext cx="28779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1825" y="1224125"/>
            <a:ext cx="2877900" cy="25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30200" y="3964000"/>
            <a:ext cx="2877900" cy="216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type="title"/>
          </p:nvPr>
        </p:nvSpPr>
        <p:spPr>
          <a:xfrm>
            <a:off x="192103" y="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53" name="Google Shape;153;p20"/>
          <p:cNvSpPr txBox="1"/>
          <p:nvPr>
            <p:ph idx="1" type="body"/>
          </p:nvPr>
        </p:nvSpPr>
        <p:spPr>
          <a:xfrm>
            <a:off x="405800" y="1690450"/>
            <a:ext cx="9558000" cy="46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Char char="•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This project demonstrates the effectiveness of diffusion-based inpainting for digital image restoration. 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Char char="•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By doing pixel diffusion through PDEs, we achieved smooth and natural filling of small damaged regions. 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Char char="•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The technique is efficient, edge-preserving, and suitable for applications such as scratch removal, text erasing, and old photo repair. 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1850"/>
          </a:p>
        </p:txBody>
      </p:sp>
      <p:sp>
        <p:nvSpPr>
          <p:cNvPr id="154" name="Google Shape;154;p20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5" name="Google Shape;155;p20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478303" y="115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NEXT SET OF WORK</a:t>
            </a:r>
            <a:endParaRPr/>
          </a:p>
        </p:txBody>
      </p:sp>
      <p:sp>
        <p:nvSpPr>
          <p:cNvPr id="161" name="Google Shape;161;p21"/>
          <p:cNvSpPr txBox="1"/>
          <p:nvPr>
            <p:ph idx="1" type="body"/>
          </p:nvPr>
        </p:nvSpPr>
        <p:spPr>
          <a:xfrm>
            <a:off x="582425" y="1768950"/>
            <a:ext cx="8301000" cy="29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607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Char char="•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Optimize the inpainting algorithm for higher precision and strong quality.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Char char="•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Extend its functionality to include an object removal module that identifies and masks unwanted regions before reconstruction.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6075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50"/>
              <a:buFont typeface="Times New Roman"/>
              <a:buChar char="•"/>
            </a:pPr>
            <a:r>
              <a:rPr lang="en-US" sz="1850">
                <a:latin typeface="Times New Roman"/>
                <a:ea typeface="Times New Roman"/>
                <a:cs typeface="Times New Roman"/>
                <a:sym typeface="Times New Roman"/>
              </a:rPr>
              <a:t>Apply diffusion separately on RGB channels to enhance color consistency and visual quality.</a:t>
            </a:r>
            <a:endParaRPr sz="1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21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21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type="title"/>
          </p:nvPr>
        </p:nvSpPr>
        <p:spPr>
          <a:xfrm>
            <a:off x="594303" y="2667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598849" y="1752528"/>
            <a:ext cx="10515600" cy="4351200"/>
          </a:xfrm>
          <a:prstGeom prst="rect">
            <a:avLst/>
          </a:prstGeom>
          <a:solidFill>
            <a:srgbClr val="F2F1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AutoNum type="arabicPeriod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C. Ballester, M. Bertalmio, V. Caselles, G. Sapiro and J. Verdera, "Filling-in by joint interpolation of vector fields and gray levels," in IEEE Transactions on Image Processing, vol. 10, no. 8, pp. 1200-1211, Aug. 2001, doi: 10.1109/83.935036.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keywords: {Interpolation;Digital images;Partial differential equations;Art;Engineering profession;Associate members;Topology;Image restoration;Layout;Painting}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2.	Chan, Tony F.; Shen, Jianhong. (2001). Morphologically invariant PDE inpaintings. Retrieved from the University Digital Conservancy, https://hdl.handle.net/11299/3602.</a:t>
            </a:r>
            <a:endParaRPr sz="1800">
              <a:solidFill>
                <a:srgbClr val="343A40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3.  Future Engineering Journal Future Engineering Journal Volume 2 issue 2. (n.d.-a). https://digitalcommons.aaru.edu.jo/cgi/viewcontent.cgi?article=1019&amp;context=fej 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355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2"/>
          <p:cNvSpPr txBox="1"/>
          <p:nvPr>
            <p:ph idx="12" type="sldNum"/>
          </p:nvPr>
        </p:nvSpPr>
        <p:spPr>
          <a:xfrm>
            <a:off x="10802678" y="6284675"/>
            <a:ext cx="5511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|</a:t>
            </a:r>
            <a:r>
              <a:rPr lang="en-US"/>
              <a:t> 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22"/>
          <p:cNvSpPr txBox="1"/>
          <p:nvPr>
            <p:ph idx="10" type="dt"/>
          </p:nvPr>
        </p:nvSpPr>
        <p:spPr>
          <a:xfrm>
            <a:off x="7924800" y="6284674"/>
            <a:ext cx="28779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01/07/19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