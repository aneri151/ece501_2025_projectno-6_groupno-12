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Helvetica Neue" panose="020B0604020202020204" charset="0"/>
      <p:regular r:id="rId14"/>
      <p:bold r:id="rId15"/>
      <p:italic r:id="rId16"/>
      <p:boldItalic r:id="rId17"/>
    </p:embeddedFont>
    <p:embeddedFont>
      <p:font typeface="Helvetica Neue Ligh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95E5CE5-5C40-41E2-B60B-EAE5229522B4}">
  <a:tblStyle styleId="{F95E5CE5-5C40-41E2-B60B-EAE5229522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4568f600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a4568f60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4568f6009_0_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a4568f600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4568f6009_3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a4568f6009_3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4568f6009_3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g3a4568f6009_3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5f1e2d20b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g385f1e2d20b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4568f6009_0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a4568f6009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5f1e2d20b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g385f1e2d20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5f1e2d20b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85f1e2d20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76" name="Google Shape;76;p1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l="29654" t="38312" r="29480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lang="en-US" b="0"/>
              <a:t>  </a:t>
            </a:r>
            <a:fld id="{00000000-1234-1234-1234-123412341234}" type="slidenum">
              <a:rPr lang="en-US" b="0"/>
              <a:t>‹#›</a:t>
            </a:fld>
            <a:endParaRPr b="0"/>
          </a:p>
        </p:txBody>
      </p:sp>
      <p:sp>
        <p:nvSpPr>
          <p:cNvPr id="17" name="Google Shape;17;p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jp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38183352_An_Image_Inpainting_Technique_Based_on_the_Fast_Marching_Method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shutterstock.com/search/birds-airplane-sky" TargetMode="External"/><Relationship Id="rId4" Type="http://schemas.openxmlformats.org/officeDocument/2006/relationships/hyperlink" Target="https://www.sci.utah.edu/~gerig/CS7960-S2010/materials/Perona-Malik/PeronaMalik-PAMI-1990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1123800" y="3070651"/>
            <a:ext cx="99444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Image Inpainting For Object Removal</a:t>
            </a:r>
            <a:br>
              <a:rPr lang="en-US" sz="4000"/>
            </a:br>
            <a:endParaRPr sz="4000"/>
          </a:p>
        </p:txBody>
      </p:sp>
      <p:sp>
        <p:nvSpPr>
          <p:cNvPr id="89" name="Google Shape;89;p13"/>
          <p:cNvSpPr txBox="1"/>
          <p:nvPr/>
        </p:nvSpPr>
        <p:spPr>
          <a:xfrm>
            <a:off x="6556450" y="0"/>
            <a:ext cx="39420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2469825" y="4316375"/>
          <a:ext cx="7252350" cy="2053900"/>
        </p:xfrm>
        <a:graphic>
          <a:graphicData uri="http://schemas.openxmlformats.org/drawingml/2006/table">
            <a:tbl>
              <a:tblPr>
                <a:noFill/>
                <a:tableStyleId>{F95E5CE5-5C40-41E2-B60B-EAE5229522B4}</a:tableStyleId>
              </a:tblPr>
              <a:tblGrid>
                <a:gridCol w="3626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6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Sakina Jambughodawala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AU2340114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Prina Patel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AU2340040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Aneri Maniar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AU2340080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34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Nidhee Adesara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AU2340196</a:t>
                      </a:r>
                      <a:endParaRPr sz="1900"/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5044800" y="3700775"/>
            <a:ext cx="2102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1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GROUP-12</a:t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550975" y="0"/>
            <a:ext cx="5935200" cy="9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28100" y="898150"/>
            <a:ext cx="11376000" cy="52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500"/>
              <a:buFont typeface="Helvetica Neue Light"/>
              <a:buNone/>
            </a:pPr>
            <a:endParaRPr sz="400"/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aim of image inpainting is to reconstruct the damaged or unwanted regions so the output looks visually natural and consistent with the surroundings.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275"/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we opted: Telea’s fast marching method - combined with anisotropic diffusion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Telea’s method fills missing areas by propagating boundary information inward, preserving structure and continuity. </a:t>
            </a:r>
            <a:b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It uses weighted averages of nearby known pixels, giving higher importance to pixels that are closer and aligned with       image edges.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Perona–Malik anisotropic diffusion smooths the image while protecting important edges by controlling the amount of diffusion based on gradient strength.</a:t>
            </a:r>
            <a:b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hybrid approach successfully reconstructs random missing patches with improved visual quality.</a:t>
            </a:r>
            <a:b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"/>
              <a:buFont typeface="Helvetica Neue Light"/>
              <a:buNone/>
            </a:pPr>
            <a:endParaRPr sz="400"/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500"/>
              <a:buFont typeface="Helvetica Neue Light"/>
              <a:buNone/>
            </a:pPr>
            <a:endParaRPr sz="400"/>
          </a:p>
        </p:txBody>
      </p:sp>
      <p:sp>
        <p:nvSpPr>
          <p:cNvPr id="98" name="Google Shape;98;p1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>
            <a:spLocks noGrp="1"/>
          </p:cNvSpPr>
          <p:nvPr>
            <p:ph type="title"/>
          </p:nvPr>
        </p:nvSpPr>
        <p:spPr>
          <a:xfrm>
            <a:off x="831850" y="323550"/>
            <a:ext cx="5935200" cy="96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0975" y="1368163"/>
            <a:ext cx="4254725" cy="357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4">
            <a:alphaModFix/>
          </a:blip>
          <a:srcRect l="3110"/>
          <a:stretch/>
        </p:blipFill>
        <p:spPr>
          <a:xfrm>
            <a:off x="1043625" y="1518325"/>
            <a:ext cx="4254725" cy="3278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1535575" y="2482450"/>
            <a:ext cx="809050" cy="1527325"/>
          </a:xfrm>
          <a:custGeom>
            <a:avLst/>
            <a:gdLst/>
            <a:ahLst/>
            <a:cxnLst/>
            <a:rect l="l" t="t" r="r" b="b"/>
            <a:pathLst>
              <a:path w="32362" h="61093" extrusionOk="0">
                <a:moveTo>
                  <a:pt x="815" y="49670"/>
                </a:moveTo>
                <a:cubicBezTo>
                  <a:pt x="-1740" y="53069"/>
                  <a:pt x="2368" y="61464"/>
                  <a:pt x="6599" y="61040"/>
                </a:cubicBezTo>
                <a:cubicBezTo>
                  <a:pt x="13077" y="60390"/>
                  <a:pt x="12627" y="49118"/>
                  <a:pt x="17571" y="44882"/>
                </a:cubicBezTo>
                <a:cubicBezTo>
                  <a:pt x="20108" y="42708"/>
                  <a:pt x="22907" y="40506"/>
                  <a:pt x="26148" y="39696"/>
                </a:cubicBezTo>
                <a:cubicBezTo>
                  <a:pt x="28270" y="39166"/>
                  <a:pt x="32574" y="39676"/>
                  <a:pt x="32332" y="37502"/>
                </a:cubicBezTo>
                <a:cubicBezTo>
                  <a:pt x="32223" y="36519"/>
                  <a:pt x="31142" y="35882"/>
                  <a:pt x="30337" y="35307"/>
                </a:cubicBezTo>
                <a:cubicBezTo>
                  <a:pt x="27342" y="33167"/>
                  <a:pt x="21790" y="34713"/>
                  <a:pt x="19964" y="31517"/>
                </a:cubicBezTo>
                <a:cubicBezTo>
                  <a:pt x="14457" y="21877"/>
                  <a:pt x="20295" y="0"/>
                  <a:pt x="9193" y="0"/>
                </a:cubicBezTo>
                <a:cubicBezTo>
                  <a:pt x="6059" y="0"/>
                  <a:pt x="7672" y="6112"/>
                  <a:pt x="6400" y="8976"/>
                </a:cubicBezTo>
                <a:cubicBezTo>
                  <a:pt x="3349" y="15843"/>
                  <a:pt x="4342" y="23862"/>
                  <a:pt x="3408" y="31318"/>
                </a:cubicBezTo>
                <a:cubicBezTo>
                  <a:pt x="2607" y="37709"/>
                  <a:pt x="815" y="44026"/>
                  <a:pt x="815" y="50467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8" name="Google Shape;108;p15"/>
          <p:cNvSpPr txBox="1"/>
          <p:nvPr/>
        </p:nvSpPr>
        <p:spPr>
          <a:xfrm>
            <a:off x="1708175" y="4947000"/>
            <a:ext cx="2925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Bird to be removed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7632745" y="4947000"/>
            <a:ext cx="2251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Inpainted result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521053" y="-630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CONCLUSIONS (BEFORE MID-SEM)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361850" y="1510375"/>
            <a:ext cx="109920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Our initial method relied on only basic PDE diffusion, where missing pixels were filled by averaging the values of neighbouring pixels.</a:t>
            </a:r>
            <a:b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Calculated boundary gradients (isophotes) and applied PDE-based diffusion to propagate structure smoothly into the damaged region.</a:t>
            </a:r>
            <a:b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Observed that pure diffusion produced overly smooth results and failed to preserve important edges.</a:t>
            </a:r>
            <a:b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Then we explored Navier–Stokes and Telea methods for improvement, and selected Telea’s method due to better structure continuation and performance.</a:t>
            </a:r>
            <a:b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Combined Telea’s fast marching with anisotropic diffusion refinement to achieve clearer, more natural inpainted outputs.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391325" y="-100450"/>
            <a:ext cx="72432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UPDATED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3221725" y="6071950"/>
            <a:ext cx="59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97875" y="660750"/>
            <a:ext cx="11435700" cy="55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Mathematical model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1.Image Representation</a:t>
            </a:r>
            <a:endParaRPr sz="18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The input image be                                         → The damaged region is                                          → An unpainted image </a:t>
            </a:r>
            <a:b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 : Ω → R³                                                              D ⊂ Ω.                                                                       Ĩ(x) = I(x) for all x ∉ D,</a:t>
            </a:r>
            <a:b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where Ω is the set of all pixel coordinates (x, y)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Binary mask: 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M(x) = 1 → missing pixel (x ∈ D)</a:t>
            </a:r>
            <a:b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M(x) = 0 → known pixel (x ∉ D)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Distance Transform (Fast Marching Order: 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Euclidean distance map is computed: d(x) = DistanceTransform(M)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Telea’s Inpainting Model: </a:t>
            </a:r>
            <a:r>
              <a:rPr lang="en-US" sz="21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 Direction Vector -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where, </a:t>
            </a: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= unknown pixel &amp; q = known              neighboring pixel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</a:t>
            </a: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4.2 Image Gradient at q </a:t>
            </a:r>
            <a:r>
              <a:rPr lang="en-US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endParaRPr sz="17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4532427"/>
            <a:ext cx="1247551" cy="3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1150" y="5398625"/>
            <a:ext cx="2317814" cy="3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3221725" y="6071950"/>
            <a:ext cx="59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461975" y="105675"/>
            <a:ext cx="11730000" cy="65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4.3 </a:t>
            </a:r>
            <a:r>
              <a:rPr lang="en-US" sz="1700" b="1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Telea’s</a:t>
            </a: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Directional Weight                                                 4.4 Pixel Update Rule</a:t>
            </a: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weight prefers: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closer pixels and neighbors whose gradient 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points toward p (structure continuation).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PDE Refinement (Perona–Malik Anisotropic Diffusion)</a:t>
            </a: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refines textures and preserves edges.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5.1 Gradient Magnitude                                                           5.2 Conductivity Function</a:t>
            </a: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 K controls edge preservation: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5.3 Discrete PDE Update</a:t>
            </a:r>
            <a:endParaRPr sz="17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4-connected neighbors N, S, E, W:</a:t>
            </a: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update:  </a:t>
            </a:r>
            <a:b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4573" y="3930981"/>
            <a:ext cx="2225143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372" y="4899063"/>
            <a:ext cx="5449547" cy="320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6" name="Google Shape;13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5562" y="620210"/>
            <a:ext cx="3199820" cy="6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5725" y="709138"/>
            <a:ext cx="1951060" cy="51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7441" y="5325219"/>
            <a:ext cx="2037941" cy="3205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9" name="Google Shape;139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49857" y="3603766"/>
            <a:ext cx="1951050" cy="38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 txBox="1"/>
          <p:nvPr/>
        </p:nvSpPr>
        <p:spPr>
          <a:xfrm>
            <a:off x="6096000" y="1185700"/>
            <a:ext cx="4321200" cy="13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each color channel c: If weights&lt;0:</a:t>
            </a:r>
            <a:b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I_c(p) = median of neighbor values.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7969425" y="3780225"/>
            <a:ext cx="4155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|∇I| &gt; K → diffusion stops → edge preserved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Char char="●"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|∇I| &lt; K → diffusion continues → smooth region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234125" y="0"/>
            <a:ext cx="7243200" cy="8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UPDATED METHODOLOGY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3221725" y="6071950"/>
            <a:ext cx="5988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391325" y="739850"/>
            <a:ext cx="39189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and Flowchart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19" title="Screenshot 2025-11-16 153231.png"/>
          <p:cNvPicPr preferRelativeResize="0"/>
          <p:nvPr/>
        </p:nvPicPr>
        <p:blipFill rotWithShape="1">
          <a:blip r:embed="rId3">
            <a:alphaModFix/>
          </a:blip>
          <a:srcRect l="17699" t="4138" r="20545" b="5109"/>
          <a:stretch/>
        </p:blipFill>
        <p:spPr>
          <a:xfrm>
            <a:off x="7560175" y="315675"/>
            <a:ext cx="3918899" cy="5890075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1" name="Google Shape;151;p19"/>
          <p:cNvSpPr txBox="1"/>
          <p:nvPr/>
        </p:nvSpPr>
        <p:spPr>
          <a:xfrm>
            <a:off x="82825" y="1016850"/>
            <a:ext cx="8465100" cy="48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image to grayscale; create mask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Label missing=INSIDE, known=KNOWN, find BAND.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distance transform; push BAND in queue.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Sobel gradients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gx, gy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smallest-distance BAND pixel from priority queue.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weights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= ((px–qx)gx + (py–qy)gy)/(r²·r)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positive-weight fill or neighbor median.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 pixel KNOWN; promote INSIDE to BAND.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AutoNum type="arabicPeriod"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anisotropic diffusion </a:t>
            </a:r>
            <a:r>
              <a:rPr lang="en-US" sz="15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exp(–(|∇I|/κ)²)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iterations.</a:t>
            </a:r>
            <a:b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>
            <a:spLocks noGrp="1"/>
          </p:cNvSpPr>
          <p:nvPr>
            <p:ph type="title"/>
          </p:nvPr>
        </p:nvSpPr>
        <p:spPr>
          <a:xfrm>
            <a:off x="287075" y="115900"/>
            <a:ext cx="9783900" cy="9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2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58" name="Google Shape;158;p20"/>
          <p:cNvPicPr preferRelativeResize="0"/>
          <p:nvPr/>
        </p:nvPicPr>
        <p:blipFill rotWithShape="1">
          <a:blip r:embed="rId3">
            <a:alphaModFix/>
          </a:blip>
          <a:srcRect t="4122"/>
          <a:stretch/>
        </p:blipFill>
        <p:spPr>
          <a:xfrm>
            <a:off x="4457675" y="1340663"/>
            <a:ext cx="6896100" cy="180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675" y="3342425"/>
            <a:ext cx="6683299" cy="24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0"/>
          <p:cNvPicPr preferRelativeResize="0"/>
          <p:nvPr/>
        </p:nvPicPr>
        <p:blipFill rotWithShape="1">
          <a:blip r:embed="rId5">
            <a:alphaModFix/>
          </a:blip>
          <a:srcRect l="2114"/>
          <a:stretch/>
        </p:blipFill>
        <p:spPr>
          <a:xfrm>
            <a:off x="880425" y="1450638"/>
            <a:ext cx="2207475" cy="1582929"/>
          </a:xfrm>
          <a:prstGeom prst="rect">
            <a:avLst/>
          </a:prstGeom>
          <a:noFill/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1" name="Google Shape;16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0425" y="3429025"/>
            <a:ext cx="1755800" cy="2494400"/>
          </a:xfrm>
          <a:prstGeom prst="rect">
            <a:avLst/>
          </a:prstGeom>
          <a:noFill/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518000" y="115900"/>
            <a:ext cx="9783900" cy="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68" name="Google Shape;168;p21" title="WhatsApp Image 2025-11-16 at 3.55.53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9271" y="1055213"/>
            <a:ext cx="6155452" cy="237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1" title="Screenshot 2025-11-16 1629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9275" y="3722325"/>
            <a:ext cx="7551974" cy="190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1" title="WhatsApp Image 2025-11-16 at 4.18.52 PM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0850" y="3891850"/>
            <a:ext cx="2190052" cy="1738275"/>
          </a:xfrm>
          <a:prstGeom prst="rect">
            <a:avLst/>
          </a:prstGeom>
          <a:noFill/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1" name="Google Shape;17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3825" y="1134588"/>
            <a:ext cx="1446775" cy="2215050"/>
          </a:xfrm>
          <a:prstGeom prst="rect">
            <a:avLst/>
          </a:prstGeom>
          <a:noFill/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>
            <a:spLocks noGrp="1"/>
          </p:cNvSpPr>
          <p:nvPr>
            <p:ph type="title"/>
          </p:nvPr>
        </p:nvSpPr>
        <p:spPr>
          <a:xfrm>
            <a:off x="192103" y="-2742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2"/>
          <p:cNvSpPr txBox="1">
            <a:spLocks noGrp="1"/>
          </p:cNvSpPr>
          <p:nvPr>
            <p:ph type="body" idx="1"/>
          </p:nvPr>
        </p:nvSpPr>
        <p:spPr>
          <a:xfrm>
            <a:off x="405875" y="1159250"/>
            <a:ext cx="10396800" cy="4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method integrates Telea’s fast marching and Perona–Malik anisotropic diffusion to restore missing regions.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distance transform and gradient-based weighting guide the filling process, ensuring smooth propagation of edges, textures, and isophotes from known areas.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Anisotropic diffusion preserves important edges while smoothing homogeneous regions.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combined use of gradient information, geometric continuation, and PDE refinement ensures the final inpainted image looks seamless and visually consistent.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latin typeface="Times New Roman"/>
                <a:ea typeface="Times New Roman"/>
                <a:cs typeface="Times New Roman"/>
                <a:sym typeface="Times New Roman"/>
              </a:rPr>
              <a:t>DRAWBACKS:</a:t>
            </a:r>
            <a:endParaRPr sz="17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Font typeface="Times New Roman"/>
              <a:buChar char="•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For image which has white background, this approach considers it too as a damaged part and also texture recovery is not proper.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>
            <a:spLocks noGrp="1"/>
          </p:cNvSpPr>
          <p:nvPr>
            <p:ph type="title"/>
          </p:nvPr>
        </p:nvSpPr>
        <p:spPr>
          <a:xfrm>
            <a:off x="478303" y="11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3"/>
          <p:cNvSpPr txBox="1">
            <a:spLocks noGrp="1"/>
          </p:cNvSpPr>
          <p:nvPr>
            <p:ph type="body" idx="1"/>
          </p:nvPr>
        </p:nvSpPr>
        <p:spPr>
          <a:xfrm>
            <a:off x="530350" y="1592275"/>
            <a:ext cx="10411500" cy="3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5043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834"/>
              <a:buFont typeface="Times New Roman"/>
              <a:buAutoNum type="arabicPeriod"/>
            </a:pPr>
            <a:r>
              <a:rPr lang="en-US" sz="1833">
                <a:latin typeface="Times New Roman"/>
                <a:ea typeface="Times New Roman"/>
                <a:cs typeface="Times New Roman"/>
                <a:sym typeface="Times New Roman"/>
              </a:rPr>
              <a:t>(PDF) an image inpainting technique based on the Fast Marching Method. (n.d.-a). </a:t>
            </a:r>
            <a:r>
              <a:rPr lang="en-US" sz="1833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https://www.researchgate.net/publication/238183352_An_Image_Inpainting_Technique_Based_on_the_Fast_Marching_Method</a:t>
            </a:r>
            <a:endParaRPr sz="18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5043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834"/>
              <a:buFont typeface="Times New Roman"/>
              <a:buAutoNum type="arabicPeriod"/>
            </a:pPr>
            <a:r>
              <a:rPr lang="en-US" sz="1833">
                <a:latin typeface="Times New Roman"/>
                <a:ea typeface="Times New Roman"/>
                <a:cs typeface="Times New Roman"/>
                <a:sym typeface="Times New Roman"/>
              </a:rPr>
              <a:t>Utah. (n.d.). </a:t>
            </a:r>
            <a:r>
              <a:rPr lang="en-US" sz="1833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https://www.sci.utah.edu/~gerig/CS7960-S2010/materials/Perona-Malik/PeronaMalik-PAMI-1990.pdf</a:t>
            </a:r>
            <a:endParaRPr sz="18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5043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SzPts val="1834"/>
              <a:buFont typeface="Times New Roman"/>
              <a:buAutoNum type="arabicPeriod"/>
            </a:pPr>
            <a:r>
              <a:rPr lang="en-US" sz="1833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https://www.shutterstock.com/search/birds-airplane-sky</a:t>
            </a:r>
            <a:endParaRPr sz="18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33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133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860</Words>
  <Application>Microsoft Office PowerPoint</Application>
  <PresentationFormat>Widescreen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Helvetica Neue Light</vt:lpstr>
      <vt:lpstr>Helvetica Neue</vt:lpstr>
      <vt:lpstr>Times New Roman</vt:lpstr>
      <vt:lpstr>Calibri</vt:lpstr>
      <vt:lpstr>Office Theme</vt:lpstr>
      <vt:lpstr>Image Inpainting For Object Removal </vt:lpstr>
      <vt:lpstr>INTRODUCTION</vt:lpstr>
      <vt:lpstr>INTRODUCTION</vt:lpstr>
      <vt:lpstr>CONCLUSIONS (BEFORE MID-SEM)</vt:lpstr>
      <vt:lpstr>UPDATED METHODOLOGY</vt:lpstr>
      <vt:lpstr>PowerPoint Presentation</vt:lpstr>
      <vt:lpstr>UPDATED METHODOLOGY</vt:lpstr>
      <vt:lpstr>Results</vt:lpstr>
      <vt:lpstr>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ARWA JAMBUGHODAWALA</cp:lastModifiedBy>
  <cp:revision>1</cp:revision>
  <dcterms:modified xsi:type="dcterms:W3CDTF">2025-11-16T14:34:03Z</dcterms:modified>
</cp:coreProperties>
</file>